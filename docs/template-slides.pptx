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8" r:id="rId3"/>
    <p:sldId id="273" r:id="rId4"/>
    <p:sldId id="274" r:id="rId5"/>
    <p:sldId id="275" r:id="rId6"/>
    <p:sldId id="272" r:id="rId7"/>
    <p:sldId id="276" r:id="rId8"/>
    <p:sldId id="260" r:id="rId9"/>
    <p:sldId id="258" r:id="rId10"/>
    <p:sldId id="261" r:id="rId11"/>
    <p:sldId id="262" r:id="rId12"/>
    <p:sldId id="265" r:id="rId13"/>
    <p:sldId id="267" r:id="rId14"/>
    <p:sldId id="266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44EE8-9728-4757-9996-A1FB9AB0A83B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228F0-8A7A-4066-B502-AE5099D9FFD7}" type="slidenum">
              <a:rPr lang="en-US" smtClean="0"/>
              <a:t>‹nº›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04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44EE8-9728-4757-9996-A1FB9AB0A83B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228F0-8A7A-4066-B502-AE5099D9FFD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8467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44EE8-9728-4757-9996-A1FB9AB0A83B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228F0-8A7A-4066-B502-AE5099D9FFD7}" type="slidenum">
              <a:rPr lang="en-US" smtClean="0"/>
              <a:t>‹nº›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3759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44EE8-9728-4757-9996-A1FB9AB0A83B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228F0-8A7A-4066-B502-AE5099D9FFD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727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44EE8-9728-4757-9996-A1FB9AB0A83B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228F0-8A7A-4066-B502-AE5099D9FFD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39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44EE8-9728-4757-9996-A1FB9AB0A83B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228F0-8A7A-4066-B502-AE5099D9FFD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504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44EE8-9728-4757-9996-A1FB9AB0A83B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228F0-8A7A-4066-B502-AE5099D9FFD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86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F2544EE8-9728-4757-9996-A1FB9AB0A83B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5C228F0-8A7A-4066-B502-AE5099D9FFD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796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44EE8-9728-4757-9996-A1FB9AB0A83B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228F0-8A7A-4066-B502-AE5099D9FFD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441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44EE8-9728-4757-9996-A1FB9AB0A83B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228F0-8A7A-4066-B502-AE5099D9FFD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4530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44EE8-9728-4757-9996-A1FB9AB0A83B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228F0-8A7A-4066-B502-AE5099D9FFD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048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F2544EE8-9728-4757-9996-A1FB9AB0A83B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05C228F0-8A7A-4066-B502-AE5099D9FFD7}" type="slidenum">
              <a:rPr lang="en-US" smtClean="0"/>
              <a:t>‹nº›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1602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99000"/>
                <a:satMod val="140000"/>
              </a:schemeClr>
            </a:gs>
            <a:gs pos="65000">
              <a:schemeClr val="bg2">
                <a:tint val="100000"/>
                <a:shade val="80000"/>
                <a:satMod val="130000"/>
              </a:schemeClr>
            </a:gs>
            <a:gs pos="100000">
              <a:schemeClr val="bg2">
                <a:tint val="100000"/>
                <a:shade val="48000"/>
                <a:satMod val="120000"/>
              </a:schemeClr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7">
            <a:extLst>
              <a:ext uri="{FF2B5EF4-FFF2-40B4-BE49-F238E27FC236}">
                <a16:creationId xmlns:a16="http://schemas.microsoft.com/office/drawing/2014/main" id="{52C0B2E1-0268-42EC-ABD3-94F81A05BC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Rectangle 9">
            <a:extLst>
              <a:ext uri="{FF2B5EF4-FFF2-40B4-BE49-F238E27FC236}">
                <a16:creationId xmlns:a16="http://schemas.microsoft.com/office/drawing/2014/main" id="{7D2256B4-48EA-40FC-BBC0-AA1EE6E008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22" name="Straight Connector 11">
            <a:extLst>
              <a:ext uri="{FF2B5EF4-FFF2-40B4-BE49-F238E27FC236}">
                <a16:creationId xmlns:a16="http://schemas.microsoft.com/office/drawing/2014/main" id="{3D44BCCA-102D-4A9D-B1E4-2450CAF0B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3" name="Rectangle 13">
            <a:extLst>
              <a:ext uri="{FF2B5EF4-FFF2-40B4-BE49-F238E27FC236}">
                <a16:creationId xmlns:a16="http://schemas.microsoft.com/office/drawing/2014/main" id="{8C6E698C-8155-4B8B-BDC9-B7299772B5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5">
            <a:extLst>
              <a:ext uri="{FF2B5EF4-FFF2-40B4-BE49-F238E27FC236}">
                <a16:creationId xmlns:a16="http://schemas.microsoft.com/office/drawing/2014/main" id="{0EEF5601-A8BC-411D-AA64-3E79320BA1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458473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5" name="Rectangle 17">
            <a:extLst>
              <a:ext uri="{FF2B5EF4-FFF2-40B4-BE49-F238E27FC236}">
                <a16:creationId xmlns:a16="http://schemas.microsoft.com/office/drawing/2014/main" id="{33209156-242F-4B26-8D07-CEB2B68A9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4734" y="0"/>
            <a:ext cx="760726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CB0E07B-4BE4-7B9D-3E1B-2EB5AC729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841" y="736600"/>
            <a:ext cx="4230617" cy="49276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6800" dirty="0">
                <a:solidFill>
                  <a:srgbClr val="FFFFFF"/>
                </a:solidFill>
              </a:rPr>
              <a:t>MLP</a:t>
            </a:r>
            <a:br>
              <a:rPr lang="en-US" sz="6800" dirty="0">
                <a:solidFill>
                  <a:srgbClr val="FFFFFF"/>
                </a:solidFill>
              </a:rPr>
            </a:br>
            <a:br>
              <a:rPr lang="en-US" sz="6800" dirty="0">
                <a:solidFill>
                  <a:srgbClr val="FFFFFF"/>
                </a:solidFill>
              </a:rPr>
            </a:br>
            <a:br>
              <a:rPr lang="en-US" sz="6800" dirty="0">
                <a:solidFill>
                  <a:srgbClr val="FFFFFF"/>
                </a:solidFill>
              </a:rPr>
            </a:br>
            <a:r>
              <a:rPr lang="en-US" sz="4400" dirty="0" err="1">
                <a:solidFill>
                  <a:srgbClr val="FFFFFF"/>
                </a:solidFill>
              </a:rPr>
              <a:t>Implementações</a:t>
            </a:r>
            <a:endParaRPr lang="en-US" sz="6800" dirty="0">
              <a:solidFill>
                <a:srgbClr val="FFFFFF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96DD6B0-3364-2E50-0E57-6D939B78FD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93170" y="1739107"/>
            <a:ext cx="6987234" cy="443905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 dirty="0">
                <a:solidFill>
                  <a:srgbClr val="FFFFFF"/>
                </a:solidFill>
              </a:rPr>
              <a:t>No. USP – </a:t>
            </a:r>
            <a:r>
              <a:rPr lang="en-US" sz="2800" dirty="0" err="1">
                <a:solidFill>
                  <a:srgbClr val="FFFFFF"/>
                </a:solidFill>
              </a:rPr>
              <a:t>nome</a:t>
            </a:r>
            <a:r>
              <a:rPr lang="en-US" sz="2800" dirty="0">
                <a:solidFill>
                  <a:srgbClr val="FFFFFF"/>
                </a:solidFill>
              </a:rPr>
              <a:t> </a:t>
            </a:r>
            <a:r>
              <a:rPr lang="en-US" sz="2800" dirty="0" err="1">
                <a:solidFill>
                  <a:srgbClr val="FFFFFF"/>
                </a:solidFill>
              </a:rPr>
              <a:t>integrante</a:t>
            </a:r>
            <a:r>
              <a:rPr lang="en-US" sz="2800" dirty="0">
                <a:solidFill>
                  <a:srgbClr val="FFFFFF"/>
                </a:solidFill>
              </a:rPr>
              <a:t> 1 </a:t>
            </a:r>
            <a:r>
              <a:rPr lang="en-US" sz="2800" i="1" dirty="0" err="1">
                <a:solidFill>
                  <a:srgbClr val="FFFFFF"/>
                </a:solidFill>
              </a:rPr>
              <a:t>apresentador</a:t>
            </a:r>
            <a:endParaRPr lang="en-US" sz="2800" i="1" dirty="0">
              <a:solidFill>
                <a:srgbClr val="FFFFFF"/>
              </a:solidFill>
            </a:endParaRPr>
          </a:p>
          <a:p>
            <a:r>
              <a:rPr lang="en-US" sz="2800" dirty="0">
                <a:solidFill>
                  <a:srgbClr val="FFFFFF"/>
                </a:solidFill>
              </a:rPr>
              <a:t>No. USP – </a:t>
            </a:r>
            <a:r>
              <a:rPr lang="en-US" sz="2800" dirty="0" err="1">
                <a:solidFill>
                  <a:srgbClr val="FFFFFF"/>
                </a:solidFill>
              </a:rPr>
              <a:t>nome</a:t>
            </a:r>
            <a:r>
              <a:rPr lang="en-US" sz="2800" dirty="0">
                <a:solidFill>
                  <a:srgbClr val="FFFFFF"/>
                </a:solidFill>
              </a:rPr>
              <a:t> </a:t>
            </a:r>
            <a:r>
              <a:rPr lang="en-US" sz="2800" dirty="0" err="1">
                <a:solidFill>
                  <a:srgbClr val="FFFFFF"/>
                </a:solidFill>
              </a:rPr>
              <a:t>integrante</a:t>
            </a:r>
            <a:r>
              <a:rPr lang="en-US" sz="2800" dirty="0">
                <a:solidFill>
                  <a:srgbClr val="FFFFFF"/>
                </a:solidFill>
              </a:rPr>
              <a:t> 2</a:t>
            </a:r>
          </a:p>
          <a:p>
            <a:r>
              <a:rPr lang="en-US" sz="2800" dirty="0">
                <a:solidFill>
                  <a:srgbClr val="FFFFFF"/>
                </a:solidFill>
              </a:rPr>
              <a:t>No. USP – </a:t>
            </a:r>
            <a:r>
              <a:rPr lang="en-US" sz="2800" dirty="0" err="1">
                <a:solidFill>
                  <a:srgbClr val="FFFFFF"/>
                </a:solidFill>
              </a:rPr>
              <a:t>nome</a:t>
            </a:r>
            <a:r>
              <a:rPr lang="en-US" sz="2800" dirty="0">
                <a:solidFill>
                  <a:srgbClr val="FFFFFF"/>
                </a:solidFill>
              </a:rPr>
              <a:t> </a:t>
            </a:r>
            <a:r>
              <a:rPr lang="en-US" sz="2800" dirty="0" err="1">
                <a:solidFill>
                  <a:srgbClr val="FFFFFF"/>
                </a:solidFill>
              </a:rPr>
              <a:t>integrante</a:t>
            </a:r>
            <a:r>
              <a:rPr lang="en-US" sz="2800" dirty="0">
                <a:solidFill>
                  <a:srgbClr val="FFFFFF"/>
                </a:solidFill>
              </a:rPr>
              <a:t> 3</a:t>
            </a:r>
          </a:p>
          <a:p>
            <a:r>
              <a:rPr lang="en-US" sz="2800" dirty="0">
                <a:solidFill>
                  <a:srgbClr val="FFFFFF"/>
                </a:solidFill>
              </a:rPr>
              <a:t>No. USP – </a:t>
            </a:r>
            <a:r>
              <a:rPr lang="en-US" sz="2800" dirty="0" err="1">
                <a:solidFill>
                  <a:srgbClr val="FFFFFF"/>
                </a:solidFill>
              </a:rPr>
              <a:t>nome</a:t>
            </a:r>
            <a:r>
              <a:rPr lang="en-US" sz="2800" dirty="0">
                <a:solidFill>
                  <a:srgbClr val="FFFFFF"/>
                </a:solidFill>
              </a:rPr>
              <a:t> </a:t>
            </a:r>
            <a:r>
              <a:rPr lang="en-US" sz="2800" dirty="0" err="1">
                <a:solidFill>
                  <a:srgbClr val="FFFFFF"/>
                </a:solidFill>
              </a:rPr>
              <a:t>integrante</a:t>
            </a:r>
            <a:r>
              <a:rPr lang="en-US" sz="2800" dirty="0">
                <a:solidFill>
                  <a:srgbClr val="FFFFFF"/>
                </a:solidFill>
              </a:rPr>
              <a:t> 4</a:t>
            </a:r>
          </a:p>
          <a:p>
            <a:r>
              <a:rPr lang="en-US" sz="2800" dirty="0">
                <a:solidFill>
                  <a:srgbClr val="FFFFFF"/>
                </a:solidFill>
              </a:rPr>
              <a:t>No. USP – </a:t>
            </a:r>
            <a:r>
              <a:rPr lang="en-US" sz="2800" dirty="0" err="1">
                <a:solidFill>
                  <a:srgbClr val="FFFFFF"/>
                </a:solidFill>
              </a:rPr>
              <a:t>nome</a:t>
            </a:r>
            <a:r>
              <a:rPr lang="en-US" sz="2800" dirty="0">
                <a:solidFill>
                  <a:srgbClr val="FFFFFF"/>
                </a:solidFill>
              </a:rPr>
              <a:t> </a:t>
            </a:r>
            <a:r>
              <a:rPr lang="en-US" sz="2800" dirty="0" err="1">
                <a:solidFill>
                  <a:srgbClr val="FFFFFF"/>
                </a:solidFill>
              </a:rPr>
              <a:t>integrante</a:t>
            </a:r>
            <a:r>
              <a:rPr lang="en-US" sz="2800" dirty="0">
                <a:solidFill>
                  <a:srgbClr val="FFFFFF"/>
                </a:solidFill>
              </a:rPr>
              <a:t> 5 </a:t>
            </a:r>
            <a:r>
              <a:rPr lang="en-US" sz="2800" i="1" dirty="0" err="1">
                <a:solidFill>
                  <a:srgbClr val="FFFFFF"/>
                </a:solidFill>
              </a:rPr>
              <a:t>apresentadorA</a:t>
            </a:r>
            <a:endParaRPr lang="en-US" sz="2800" i="1" dirty="0">
              <a:solidFill>
                <a:srgbClr val="FFFFFF"/>
              </a:solidFill>
            </a:endParaRPr>
          </a:p>
          <a:p>
            <a:r>
              <a:rPr lang="en-US" sz="2800" dirty="0">
                <a:solidFill>
                  <a:srgbClr val="FFFFFF"/>
                </a:solidFill>
              </a:rPr>
              <a:t>No. USP – </a:t>
            </a:r>
            <a:r>
              <a:rPr lang="en-US" sz="2800" dirty="0" err="1">
                <a:solidFill>
                  <a:srgbClr val="FFFFFF"/>
                </a:solidFill>
              </a:rPr>
              <a:t>nome</a:t>
            </a:r>
            <a:r>
              <a:rPr lang="en-US" sz="2800" dirty="0">
                <a:solidFill>
                  <a:srgbClr val="FFFFFF"/>
                </a:solidFill>
              </a:rPr>
              <a:t> </a:t>
            </a:r>
            <a:r>
              <a:rPr lang="en-US" sz="2800" dirty="0" err="1">
                <a:solidFill>
                  <a:srgbClr val="FFFFFF"/>
                </a:solidFill>
              </a:rPr>
              <a:t>integrante</a:t>
            </a:r>
            <a:r>
              <a:rPr lang="en-US" sz="2800" dirty="0">
                <a:solidFill>
                  <a:srgbClr val="FFFFFF"/>
                </a:solidFill>
              </a:rPr>
              <a:t> 6</a:t>
            </a:r>
          </a:p>
          <a:p>
            <a:endParaRPr lang="en-US" sz="2800" dirty="0">
              <a:solidFill>
                <a:srgbClr val="FFFFFF"/>
              </a:solidFill>
            </a:endParaRPr>
          </a:p>
          <a:p>
            <a:endParaRPr lang="en-US" sz="2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49987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53EEBA-EFA2-8A07-87E2-92DB0257E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Estruturas de dados e programação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138DF40-47F9-E482-5383-976F5122F1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/>
              <a:t>Explique as estruturas de dados e de programação usadas para lidar com:</a:t>
            </a:r>
          </a:p>
          <a:p>
            <a:pPr marL="898525" indent="-366713">
              <a:buFont typeface="Arial" panose="020B0604020202020204" pitchFamily="34" charset="0"/>
              <a:buChar char="•"/>
            </a:pPr>
            <a:r>
              <a:rPr lang="pt-BR" dirty="0"/>
              <a:t>Camada de entrada da rede neural</a:t>
            </a:r>
          </a:p>
          <a:p>
            <a:pPr marL="1191133" lvl="1" indent="-366713">
              <a:buFont typeface="Arial" panose="020B0604020202020204" pitchFamily="34" charset="0"/>
              <a:buChar char="•"/>
            </a:pPr>
            <a:r>
              <a:rPr lang="pt-BR" dirty="0"/>
              <a:t>Relacione isso como problema de reconhecimento de caractere que está sendo resolvido pela rede neural</a:t>
            </a:r>
          </a:p>
          <a:p>
            <a:pPr marL="898525" indent="-366713">
              <a:buFont typeface="Arial" panose="020B0604020202020204" pitchFamily="34" charset="0"/>
              <a:buChar char="•"/>
            </a:pPr>
            <a:r>
              <a:rPr lang="pt-BR" dirty="0"/>
              <a:t>Camada de saída da rede neural</a:t>
            </a:r>
          </a:p>
          <a:p>
            <a:pPr marL="1191133" lvl="1" indent="-366713">
              <a:buFont typeface="Arial" panose="020B0604020202020204" pitchFamily="34" charset="0"/>
              <a:buChar char="•"/>
            </a:pPr>
            <a:r>
              <a:rPr lang="pt-BR" dirty="0"/>
              <a:t>Relacione isso como problema de reconhecimento de caractere que está sendo resolvido pela rede neural</a:t>
            </a:r>
          </a:p>
          <a:p>
            <a:pPr marL="898525" indent="-366713">
              <a:buFont typeface="Arial" panose="020B0604020202020204" pitchFamily="34" charset="0"/>
              <a:buChar char="•"/>
            </a:pPr>
            <a:r>
              <a:rPr lang="pt-BR" dirty="0"/>
              <a:t>Camada escondida da rede neural</a:t>
            </a:r>
          </a:p>
          <a:p>
            <a:pPr marL="898525" indent="-366713">
              <a:buFont typeface="Arial" panose="020B0604020202020204" pitchFamily="34" charset="0"/>
              <a:buChar char="•"/>
            </a:pPr>
            <a:r>
              <a:rPr lang="pt-BR" dirty="0"/>
              <a:t>Matrizes de pesos</a:t>
            </a:r>
          </a:p>
          <a:p>
            <a:pPr marL="898525" indent="-366713">
              <a:buFont typeface="Arial" panose="020B0604020202020204" pitchFamily="34" charset="0"/>
              <a:buChar char="•"/>
            </a:pPr>
            <a:endParaRPr lang="pt-BR" dirty="0"/>
          </a:p>
          <a:p>
            <a:pPr marL="531812" indent="0">
              <a:buNone/>
            </a:pPr>
            <a:r>
              <a:rPr lang="pt-BR" dirty="0"/>
              <a:t>Durante todo esse vídeo, transite entre os slides e seu código (implementação) ou copie trechos do seu código no slide.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19271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E0F8B-1377-0F05-DB82-0F1998617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565F75-2D3F-15B6-E90F-DB9499132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Feedforward</a:t>
            </a:r>
            <a:r>
              <a:rPr lang="pt-BR" dirty="0"/>
              <a:t> e cálculo do erro da rede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63A4165-4BF4-A3F9-AF45-3CDB0B2D16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Explique, usando seu código como base, como você implementou a fase de </a:t>
            </a:r>
            <a:r>
              <a:rPr lang="pt-BR" dirty="0" err="1"/>
              <a:t>feedforward</a:t>
            </a:r>
            <a:r>
              <a:rPr lang="pt-BR" dirty="0"/>
              <a:t> e como você implementou o cálculo do erro da rede.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96351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9B906-7641-3D8A-FE62-49A834D47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02E496-A31F-6DCD-FFE5-6273B26A9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Backpropagation</a:t>
            </a:r>
            <a:r>
              <a:rPr lang="pt-BR" dirty="0"/>
              <a:t> – cálculo do erro para retropropagação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AF86D0C-16F3-461A-711E-08B735C6CE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Explique, usando seu código como base, como você implementou o cálculo do erro para retropropagação na camada de saída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69090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37714-9F48-9953-157E-6F8629E47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537690-A631-E682-D8E7-05BCE2D41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Backpropagation</a:t>
            </a:r>
            <a:r>
              <a:rPr lang="pt-BR" dirty="0"/>
              <a:t> – contribuição do erro na camada escondida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1CFB1EA-C70A-5FC3-3436-9E9E7E68F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Explique, usando seu código como base, como você implementou o cálculo da contribuição do erro na camada escondida.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42979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DCBC2F-5FC1-958B-9D32-F6C5B2B65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Atualização de pesos sinápticos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7C7872F-2B14-E6E7-5B11-57847F5F3F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Explique, usando seu código como base, como se dá a alteração dos pesos sinápticos.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7070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3ECE08-2961-92DE-4FB6-D03645621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Resposta de reconhecimento de caractere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F4A504B-9560-6CAC-2401-CEB942801E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Explique como você implementou o procedimento de cálculo da resposta da rede em termos de reconhecimento do caractere.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20042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E88192-2ACA-3EBE-E51E-459FAB72A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Determinação de parâmetros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EB18032-A65B-88E0-257C-28A70C342F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Informe:</a:t>
            </a:r>
          </a:p>
          <a:p>
            <a:pPr marL="801688" indent="-263525">
              <a:buFont typeface="Arial" panose="020B0604020202020204" pitchFamily="34" charset="0"/>
              <a:buChar char="•"/>
            </a:pPr>
            <a:r>
              <a:rPr lang="pt-BR" dirty="0"/>
              <a:t>Como você determina os parâmetros da arquitetura: no código, em chamadas de scripts, via entrada de dados numa interface?</a:t>
            </a:r>
          </a:p>
          <a:p>
            <a:pPr marL="801688" indent="-263525">
              <a:buFont typeface="Arial" panose="020B0604020202020204" pitchFamily="34" charset="0"/>
              <a:buChar char="•"/>
            </a:pPr>
            <a:r>
              <a:rPr lang="pt-BR" dirty="0"/>
              <a:t>Quais são os parâmetros que podemos variar na sua implementação quando estivermos executando-a?</a:t>
            </a:r>
          </a:p>
          <a:p>
            <a:pPr marL="801688" indent="-263525">
              <a:buFont typeface="Arial" panose="020B0604020202020204" pitchFamily="34" charset="0"/>
              <a:buChar char="•"/>
            </a:pPr>
            <a:r>
              <a:rPr lang="pt-BR" dirty="0"/>
              <a:t>Como você fez o procedimento de busca pelos melhores valores para os parâmetros (use gráficos e tabelas, se você achar conveniente, para ilustrar sua explicação)</a:t>
            </a:r>
          </a:p>
          <a:p>
            <a:pPr marL="1094296" lvl="1" indent="-263525">
              <a:buFont typeface="Arial" panose="020B0604020202020204" pitchFamily="34" charset="0"/>
              <a:buChar char="•"/>
            </a:pPr>
            <a:r>
              <a:rPr lang="pt-BR" dirty="0"/>
              <a:t>Lembre-se que o problema que vocês estão resolvendo pode ser “simples” para uma arquitetura bem formulada. Se na sua primeira tentativa, você obtém bons resultados, você ainda precisa variar a parametrização para entender, e explicar, quais parâmetros da rede influenciam mais ou menos da obtenção de bons resultados. 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72487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CF6C9-D4E4-A0F3-62A5-83E4DCAD8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8F06A54A-5E63-05F6-99F4-76C36213D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Dinâmica de treinamento e teste</a:t>
            </a:r>
            <a:endParaRPr lang="en-US" dirty="0"/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EDC812D6-D56B-8C53-10CF-ABE4F9E9B1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542540"/>
          </a:xfrm>
        </p:spPr>
        <p:txBody>
          <a:bodyPr>
            <a:normAutofit lnSpcReduction="10000"/>
          </a:bodyPr>
          <a:lstStyle/>
          <a:p>
            <a:r>
              <a:rPr lang="pt-BR" dirty="0"/>
              <a:t>Apresente uma visão geral da sua implementação, no que diz respeito à execução do treinamento e do teste da MLP – sempre se refira a treinamento e teste com o conjunto de dados CARACTERES COMPLETO.</a:t>
            </a:r>
          </a:p>
          <a:p>
            <a:pPr marL="801688" indent="-263525" defTabSz="801688">
              <a:buFont typeface="Arial" panose="020B0604020202020204" pitchFamily="34" charset="0"/>
              <a:buChar char="•"/>
            </a:pPr>
            <a:r>
              <a:rPr lang="pt-BR" dirty="0"/>
              <a:t>Hardware (ou hardwares) utilizados para executar os experimentos de treinamento.</a:t>
            </a:r>
          </a:p>
          <a:p>
            <a:pPr marL="801688" indent="-263525" defTabSz="801688">
              <a:buFont typeface="Arial" panose="020B0604020202020204" pitchFamily="34" charset="0"/>
              <a:buChar char="•"/>
            </a:pPr>
            <a:r>
              <a:rPr lang="pt-BR" dirty="0"/>
              <a:t>Tempo gasto (em cada hardware) para executar alguns treinamentos, considerando algumas variações, como: </a:t>
            </a:r>
          </a:p>
          <a:p>
            <a:pPr marL="1094296" lvl="1" indent="-263525" defTabSz="801688">
              <a:buFont typeface="Arial" panose="020B0604020202020204" pitchFamily="34" charset="0"/>
              <a:buChar char="•"/>
            </a:pPr>
            <a:r>
              <a:rPr lang="pt-BR" dirty="0"/>
              <a:t>quantidade de neurônios na camada escondida X tempo de execução X quantidade de épocas </a:t>
            </a:r>
          </a:p>
          <a:p>
            <a:pPr marL="1094296" lvl="1" indent="-263525" defTabSz="801688">
              <a:buFont typeface="Arial" panose="020B0604020202020204" pitchFamily="34" charset="0"/>
              <a:buChar char="•"/>
            </a:pPr>
            <a:r>
              <a:rPr lang="pt-BR" dirty="0"/>
              <a:t>valores para taxa de aprendizado X tempo de execução X quantidade de épocas </a:t>
            </a:r>
          </a:p>
          <a:p>
            <a:pPr marL="1094296" lvl="1" indent="-263525" defTabSz="801688">
              <a:buFont typeface="Arial" panose="020B0604020202020204" pitchFamily="34" charset="0"/>
              <a:buChar char="•"/>
            </a:pPr>
            <a:r>
              <a:rPr lang="pt-BR" dirty="0"/>
              <a:t>quantidade de épocas x tempo de execução</a:t>
            </a:r>
          </a:p>
          <a:p>
            <a:pPr marL="1094296" lvl="1" indent="-263525" defTabSz="801688">
              <a:buFont typeface="Arial" panose="020B0604020202020204" pitchFamily="34" charset="0"/>
              <a:buChar char="•"/>
            </a:pPr>
            <a:r>
              <a:rPr lang="pt-BR" dirty="0"/>
              <a:t>outras questões que você achar interessante</a:t>
            </a:r>
          </a:p>
          <a:p>
            <a:pPr marL="1094296" lvl="1" indent="-263525" defTabSz="801688">
              <a:buFont typeface="Arial" panose="020B0604020202020204" pitchFamily="34" charset="0"/>
              <a:buChar char="•"/>
            </a:pPr>
            <a:endParaRPr lang="pt-BR" dirty="0"/>
          </a:p>
          <a:p>
            <a:pPr marL="1094296" lvl="1" indent="-263525" defTabSz="801688">
              <a:buFont typeface="Arial" panose="020B0604020202020204" pitchFamily="34" charset="0"/>
              <a:buChar char="•"/>
            </a:pPr>
            <a:endParaRPr lang="pt-BR" dirty="0"/>
          </a:p>
          <a:p>
            <a:pPr marL="830771" lvl="1" indent="0" defTabSz="801688">
              <a:buNone/>
            </a:pPr>
            <a:r>
              <a:rPr lang="pt-BR" dirty="0"/>
              <a:t>Sugere-se a apresentação de resultados na forma de tabelas, acompanhadas, é claro, de análises críticas realizadas na explicação do aluno – registrada no vídeo.</a:t>
            </a:r>
          </a:p>
        </p:txBody>
      </p:sp>
    </p:spTree>
    <p:extLst>
      <p:ext uri="{BB962C8B-B14F-4D97-AF65-F5344CB8AC3E}">
        <p14:creationId xmlns:p14="http://schemas.microsoft.com/office/powerpoint/2010/main" val="14523526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7C314-E96B-D952-8692-8C65F4058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50F489-5475-2B0C-E3EC-D4008A1DA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Treinamento e parada antecipada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AEF69CD-659A-9677-012D-CA681A82C7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367177"/>
          </a:xfrm>
        </p:spPr>
        <p:txBody>
          <a:bodyPr>
            <a:normAutofit/>
          </a:bodyPr>
          <a:lstStyle/>
          <a:p>
            <a:r>
              <a:rPr lang="en-US" dirty="0" err="1"/>
              <a:t>Apresente</a:t>
            </a:r>
            <a:r>
              <a:rPr lang="en-US" dirty="0"/>
              <a:t> </a:t>
            </a:r>
            <a:r>
              <a:rPr lang="en-US" dirty="0" err="1"/>
              <a:t>pelo</a:t>
            </a:r>
            <a:r>
              <a:rPr lang="en-US" dirty="0"/>
              <a:t> </a:t>
            </a:r>
            <a:r>
              <a:rPr lang="en-US" dirty="0" err="1"/>
              <a:t>menos</a:t>
            </a:r>
            <a:r>
              <a:rPr lang="en-US" dirty="0"/>
              <a:t> duas </a:t>
            </a:r>
            <a:r>
              <a:rPr lang="en-US" dirty="0" err="1"/>
              <a:t>execuções</a:t>
            </a:r>
            <a:r>
              <a:rPr lang="en-US" dirty="0"/>
              <a:t>, </a:t>
            </a:r>
            <a:r>
              <a:rPr lang="en-US" dirty="0" err="1"/>
              <a:t>ou</a:t>
            </a:r>
            <a:r>
              <a:rPr lang="en-US" dirty="0"/>
              <a:t> </a:t>
            </a:r>
            <a:r>
              <a:rPr lang="en-US" dirty="0" err="1"/>
              <a:t>parte</a:t>
            </a:r>
            <a:r>
              <a:rPr lang="en-US" dirty="0"/>
              <a:t> delas, </a:t>
            </a:r>
            <a:r>
              <a:rPr lang="en-US" dirty="0" err="1"/>
              <a:t>ilustrando</a:t>
            </a:r>
            <a:r>
              <a:rPr lang="en-US" dirty="0"/>
              <a:t> via </a:t>
            </a:r>
            <a:r>
              <a:rPr lang="en-US" dirty="0" err="1"/>
              <a:t>visualização</a:t>
            </a:r>
            <a:r>
              <a:rPr lang="en-US" dirty="0"/>
              <a:t> do </a:t>
            </a:r>
            <a:r>
              <a:rPr lang="en-US" dirty="0" err="1"/>
              <a:t>seu</a:t>
            </a:r>
            <a:r>
              <a:rPr lang="en-US" dirty="0"/>
              <a:t> terminal </a:t>
            </a:r>
            <a:r>
              <a:rPr lang="en-US" dirty="0" err="1"/>
              <a:t>ou</a:t>
            </a:r>
            <a:r>
              <a:rPr lang="en-US" dirty="0"/>
              <a:t> da interface </a:t>
            </a:r>
            <a:r>
              <a:rPr lang="en-US" dirty="0" err="1"/>
              <a:t>gráfica</a:t>
            </a:r>
            <a:r>
              <a:rPr lang="en-US" dirty="0"/>
              <a:t>. </a:t>
            </a:r>
            <a:r>
              <a:rPr lang="en-US" dirty="0" err="1"/>
              <a:t>Você</a:t>
            </a:r>
            <a:r>
              <a:rPr lang="en-US" dirty="0"/>
              <a:t> </a:t>
            </a:r>
            <a:r>
              <a:rPr lang="en-US" dirty="0" err="1"/>
              <a:t>pode</a:t>
            </a:r>
            <a:r>
              <a:rPr lang="en-US" dirty="0"/>
              <a:t> </a:t>
            </a:r>
            <a:r>
              <a:rPr lang="en-US" dirty="0" err="1"/>
              <a:t>navegar</a:t>
            </a:r>
            <a:r>
              <a:rPr lang="en-US" dirty="0"/>
              <a:t> entre </a:t>
            </a:r>
            <a:r>
              <a:rPr lang="en-US" dirty="0" err="1"/>
              <a:t>seu</a:t>
            </a:r>
            <a:r>
              <a:rPr lang="en-US" dirty="0"/>
              <a:t> terminal e </a:t>
            </a:r>
            <a:r>
              <a:rPr lang="en-US" dirty="0" err="1"/>
              <a:t>os</a:t>
            </a:r>
            <a:r>
              <a:rPr lang="en-US" dirty="0"/>
              <a:t> slides, </a:t>
            </a:r>
            <a:r>
              <a:rPr lang="en-US" dirty="0" err="1"/>
              <a:t>ou</a:t>
            </a:r>
            <a:r>
              <a:rPr lang="en-US" dirty="0"/>
              <a:t> </a:t>
            </a:r>
            <a:r>
              <a:rPr lang="en-US" dirty="0" err="1"/>
              <a:t>você</a:t>
            </a:r>
            <a:r>
              <a:rPr lang="en-US" dirty="0"/>
              <a:t> </a:t>
            </a:r>
            <a:r>
              <a:rPr lang="en-US" dirty="0" err="1"/>
              <a:t>pode</a:t>
            </a:r>
            <a:r>
              <a:rPr lang="en-US" dirty="0"/>
              <a:t> </a:t>
            </a:r>
            <a:r>
              <a:rPr lang="en-US" dirty="0" err="1"/>
              <a:t>incorporar</a:t>
            </a:r>
            <a:r>
              <a:rPr lang="en-US" dirty="0"/>
              <a:t> </a:t>
            </a:r>
            <a:r>
              <a:rPr lang="en-US" dirty="0" err="1"/>
              <a:t>aqui</a:t>
            </a:r>
            <a:r>
              <a:rPr lang="en-US" dirty="0"/>
              <a:t> um video da </a:t>
            </a:r>
            <a:r>
              <a:rPr lang="en-US" dirty="0" err="1"/>
              <a:t>execução</a:t>
            </a:r>
            <a:r>
              <a:rPr lang="en-US" dirty="0"/>
              <a:t>. </a:t>
            </a:r>
          </a:p>
          <a:p>
            <a:r>
              <a:rPr lang="en-US" dirty="0" err="1"/>
              <a:t>Faça</a:t>
            </a:r>
            <a:r>
              <a:rPr lang="en-US" dirty="0"/>
              <a:t> </a:t>
            </a:r>
            <a:r>
              <a:rPr lang="en-US" dirty="0" err="1"/>
              <a:t>destaque</a:t>
            </a:r>
            <a:r>
              <a:rPr lang="en-US" dirty="0"/>
              <a:t> para a </a:t>
            </a:r>
            <a:r>
              <a:rPr lang="en-US" dirty="0" err="1"/>
              <a:t>convergência</a:t>
            </a:r>
            <a:r>
              <a:rPr lang="en-US" dirty="0"/>
              <a:t> do ERRO da rede, tanto para o conjunto de </a:t>
            </a:r>
            <a:r>
              <a:rPr lang="en-US" dirty="0" err="1"/>
              <a:t>treinamento</a:t>
            </a:r>
            <a:r>
              <a:rPr lang="en-US" dirty="0"/>
              <a:t> </a:t>
            </a:r>
            <a:r>
              <a:rPr lang="en-US" dirty="0" err="1"/>
              <a:t>quanto</a:t>
            </a:r>
            <a:r>
              <a:rPr lang="en-US" dirty="0"/>
              <a:t> para o conjunto de </a:t>
            </a:r>
            <a:r>
              <a:rPr lang="en-US" dirty="0" err="1"/>
              <a:t>validação</a:t>
            </a:r>
            <a:r>
              <a:rPr lang="en-US" dirty="0"/>
              <a:t>. Ao final, </a:t>
            </a:r>
            <a:r>
              <a:rPr lang="en-US" dirty="0" err="1"/>
              <a:t>mostre</a:t>
            </a:r>
            <a:r>
              <a:rPr lang="en-US" dirty="0"/>
              <a:t> o </a:t>
            </a:r>
            <a:r>
              <a:rPr lang="en-US" dirty="0" err="1"/>
              <a:t>erro</a:t>
            </a:r>
            <a:r>
              <a:rPr lang="en-US" dirty="0"/>
              <a:t> no conjunto de teste.</a:t>
            </a:r>
          </a:p>
          <a:p>
            <a:r>
              <a:rPr lang="en-US" dirty="0"/>
              <a:t>Informe: </a:t>
            </a:r>
          </a:p>
          <a:p>
            <a:pPr marL="801688" indent="-263525">
              <a:buFont typeface="Arial" panose="020B0604020202020204" pitchFamily="34" charset="0"/>
              <a:buChar char="•"/>
            </a:pPr>
            <a:r>
              <a:rPr lang="en-US" dirty="0"/>
              <a:t>a </a:t>
            </a:r>
            <a:r>
              <a:rPr lang="en-US" dirty="0" err="1"/>
              <a:t>parametrização</a:t>
            </a:r>
            <a:r>
              <a:rPr lang="en-US" dirty="0"/>
              <a:t> da rede </a:t>
            </a:r>
            <a:r>
              <a:rPr lang="en-US" dirty="0" err="1"/>
              <a:t>nessa</a:t>
            </a:r>
            <a:r>
              <a:rPr lang="en-US" dirty="0"/>
              <a:t> </a:t>
            </a:r>
            <a:r>
              <a:rPr lang="en-US" dirty="0" err="1"/>
              <a:t>execução</a:t>
            </a:r>
            <a:r>
              <a:rPr lang="en-US" dirty="0"/>
              <a:t>, e </a:t>
            </a:r>
            <a:r>
              <a:rPr lang="en-US" dirty="0" err="1"/>
              <a:t>faça</a:t>
            </a:r>
            <a:r>
              <a:rPr lang="en-US" dirty="0"/>
              <a:t> </a:t>
            </a:r>
            <a:r>
              <a:rPr lang="en-US" dirty="0" err="1"/>
              <a:t>destaque</a:t>
            </a:r>
            <a:r>
              <a:rPr lang="en-US" dirty="0"/>
              <a:t> para a </a:t>
            </a:r>
            <a:r>
              <a:rPr lang="en-US" dirty="0" err="1"/>
              <a:t>convergência</a:t>
            </a:r>
            <a:r>
              <a:rPr lang="en-US" dirty="0"/>
              <a:t> dos pesos. </a:t>
            </a:r>
          </a:p>
          <a:p>
            <a:pPr marL="801688" indent="-263525">
              <a:buFont typeface="Arial" panose="020B0604020202020204" pitchFamily="34" charset="0"/>
              <a:buChar char="•"/>
            </a:pPr>
            <a:r>
              <a:rPr lang="en-US" dirty="0"/>
              <a:t>qual é o </a:t>
            </a:r>
            <a:r>
              <a:rPr lang="en-US" dirty="0" err="1"/>
              <a:t>seu</a:t>
            </a:r>
            <a:r>
              <a:rPr lang="en-US" dirty="0"/>
              <a:t> conjunto de </a:t>
            </a:r>
            <a:r>
              <a:rPr lang="en-US" dirty="0" err="1"/>
              <a:t>treinamento</a:t>
            </a:r>
            <a:endParaRPr lang="en-US" dirty="0"/>
          </a:p>
          <a:p>
            <a:pPr marL="801688" indent="-263525">
              <a:buFont typeface="Arial" panose="020B0604020202020204" pitchFamily="34" charset="0"/>
              <a:buChar char="•"/>
            </a:pPr>
            <a:r>
              <a:rPr lang="en-US" dirty="0"/>
              <a:t>qual é o </a:t>
            </a:r>
            <a:r>
              <a:rPr lang="en-US" dirty="0" err="1"/>
              <a:t>seu</a:t>
            </a:r>
            <a:r>
              <a:rPr lang="en-US" dirty="0"/>
              <a:t> conjunto de </a:t>
            </a:r>
            <a:r>
              <a:rPr lang="en-US" dirty="0" err="1"/>
              <a:t>validação</a:t>
            </a:r>
            <a:endParaRPr lang="en-US" dirty="0"/>
          </a:p>
          <a:p>
            <a:pPr marL="801688" indent="-263525">
              <a:buFont typeface="Arial" panose="020B0604020202020204" pitchFamily="34" charset="0"/>
              <a:buChar char="•"/>
            </a:pPr>
            <a:r>
              <a:rPr lang="en-US" dirty="0"/>
              <a:t>qual é o </a:t>
            </a:r>
            <a:r>
              <a:rPr lang="en-US" dirty="0" err="1"/>
              <a:t>seu</a:t>
            </a:r>
            <a:r>
              <a:rPr lang="en-US" dirty="0"/>
              <a:t> conjunto de teste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97069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343D0-DADA-D3E1-3E69-8B44AABB7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2171D1-069D-C11F-066A-DF60D4F32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Parada antecipada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CF8985A-AA99-A922-6590-5E9B4B27E6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725663"/>
          </a:xfrm>
        </p:spPr>
        <p:txBody>
          <a:bodyPr>
            <a:normAutofit/>
          </a:bodyPr>
          <a:lstStyle/>
          <a:p>
            <a:r>
              <a:rPr lang="en-US" dirty="0" err="1"/>
              <a:t>Apresente</a:t>
            </a:r>
            <a:r>
              <a:rPr lang="en-US" dirty="0"/>
              <a:t> </a:t>
            </a:r>
            <a:r>
              <a:rPr lang="en-US" dirty="0" err="1"/>
              <a:t>gráficos</a:t>
            </a:r>
            <a:r>
              <a:rPr lang="en-US" dirty="0"/>
              <a:t> </a:t>
            </a:r>
            <a:r>
              <a:rPr lang="en-US" dirty="0" err="1"/>
              <a:t>ilustrando</a:t>
            </a:r>
            <a:r>
              <a:rPr lang="en-US" dirty="0"/>
              <a:t> as </a:t>
            </a:r>
            <a:r>
              <a:rPr lang="en-US" dirty="0" err="1"/>
              <a:t>execuções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Se </a:t>
            </a:r>
            <a:r>
              <a:rPr lang="en-US" dirty="0" err="1"/>
              <a:t>suas</a:t>
            </a:r>
            <a:r>
              <a:rPr lang="en-US" dirty="0"/>
              <a:t> </a:t>
            </a:r>
            <a:r>
              <a:rPr lang="en-US" dirty="0" err="1"/>
              <a:t>execuções</a:t>
            </a:r>
            <a:r>
              <a:rPr lang="en-US" dirty="0"/>
              <a:t> com </a:t>
            </a:r>
            <a:r>
              <a:rPr lang="en-US" dirty="0" err="1"/>
              <a:t>parada</a:t>
            </a:r>
            <a:r>
              <a:rPr lang="en-US" dirty="0"/>
              <a:t> </a:t>
            </a:r>
            <a:r>
              <a:rPr lang="en-US" dirty="0" err="1"/>
              <a:t>antecipada</a:t>
            </a:r>
            <a:r>
              <a:rPr lang="en-US" dirty="0"/>
              <a:t> </a:t>
            </a:r>
            <a:r>
              <a:rPr lang="en-US" dirty="0" err="1"/>
              <a:t>estão</a:t>
            </a:r>
            <a:r>
              <a:rPr lang="en-US" dirty="0"/>
              <a:t> </a:t>
            </a:r>
            <a:r>
              <a:rPr lang="en-US" dirty="0" err="1"/>
              <a:t>ocorrendo</a:t>
            </a:r>
            <a:r>
              <a:rPr lang="en-US" dirty="0"/>
              <a:t> </a:t>
            </a:r>
            <a:r>
              <a:rPr lang="en-US" dirty="0" err="1"/>
              <a:t>sem</a:t>
            </a:r>
            <a:r>
              <a:rPr lang="en-US" dirty="0"/>
              <a:t> </a:t>
            </a:r>
            <a:r>
              <a:rPr lang="en-US" dirty="0" err="1"/>
              <a:t>grandes</a:t>
            </a:r>
            <a:r>
              <a:rPr lang="en-US" dirty="0"/>
              <a:t> </a:t>
            </a:r>
            <a:r>
              <a:rPr lang="en-US" dirty="0" err="1"/>
              <a:t>variações</a:t>
            </a:r>
            <a:r>
              <a:rPr lang="en-US" dirty="0"/>
              <a:t> de </a:t>
            </a:r>
            <a:r>
              <a:rPr lang="en-US" dirty="0" err="1"/>
              <a:t>convergência</a:t>
            </a:r>
            <a:r>
              <a:rPr lang="en-US" dirty="0"/>
              <a:t> de </a:t>
            </a:r>
            <a:r>
              <a:rPr lang="en-US" dirty="0" err="1"/>
              <a:t>erros</a:t>
            </a:r>
            <a:r>
              <a:rPr lang="en-US" dirty="0"/>
              <a:t> de </a:t>
            </a:r>
            <a:r>
              <a:rPr lang="en-US" dirty="0" err="1"/>
              <a:t>treinamento</a:t>
            </a:r>
            <a:r>
              <a:rPr lang="en-US" dirty="0"/>
              <a:t> e </a:t>
            </a:r>
            <a:r>
              <a:rPr lang="en-US" dirty="0" err="1"/>
              <a:t>validação</a:t>
            </a:r>
            <a:r>
              <a:rPr lang="en-US" dirty="0"/>
              <a:t>, </a:t>
            </a:r>
            <a:r>
              <a:rPr lang="en-US" dirty="0" err="1"/>
              <a:t>altere</a:t>
            </a:r>
            <a:r>
              <a:rPr lang="en-US" dirty="0"/>
              <a:t> o </a:t>
            </a:r>
            <a:r>
              <a:rPr lang="en-US" dirty="0" err="1"/>
              <a:t>ambiente</a:t>
            </a:r>
            <a:r>
              <a:rPr lang="en-US" dirty="0"/>
              <a:t> de </a:t>
            </a:r>
            <a:r>
              <a:rPr lang="en-US" dirty="0" err="1"/>
              <a:t>experimentação</a:t>
            </a:r>
            <a:r>
              <a:rPr lang="en-US" dirty="0"/>
              <a:t> </a:t>
            </a:r>
            <a:r>
              <a:rPr lang="en-US" dirty="0" err="1"/>
              <a:t>dificultando</a:t>
            </a:r>
            <a:r>
              <a:rPr lang="en-US" dirty="0"/>
              <a:t>-o: </a:t>
            </a:r>
            <a:r>
              <a:rPr lang="en-US" dirty="0" err="1"/>
              <a:t>inclua</a:t>
            </a:r>
            <a:r>
              <a:rPr lang="en-US" dirty="0"/>
              <a:t> </a:t>
            </a:r>
            <a:r>
              <a:rPr lang="en-US" dirty="0" err="1"/>
              <a:t>ruído</a:t>
            </a:r>
            <a:r>
              <a:rPr lang="en-US" dirty="0"/>
              <a:t> </a:t>
            </a:r>
            <a:r>
              <a:rPr lang="en-US" dirty="0" err="1"/>
              <a:t>nos</a:t>
            </a:r>
            <a:r>
              <a:rPr lang="en-US" dirty="0"/>
              <a:t> </a:t>
            </a:r>
            <a:r>
              <a:rPr lang="en-US" dirty="0" err="1"/>
              <a:t>seus</a:t>
            </a:r>
            <a:r>
              <a:rPr lang="en-US" dirty="0"/>
              <a:t> dados, </a:t>
            </a:r>
            <a:r>
              <a:rPr lang="en-US" dirty="0" err="1"/>
              <a:t>junte</a:t>
            </a:r>
            <a:r>
              <a:rPr lang="en-US" dirty="0"/>
              <a:t> </a:t>
            </a:r>
            <a:r>
              <a:rPr lang="en-US" dirty="0" err="1"/>
              <a:t>letras</a:t>
            </a:r>
            <a:r>
              <a:rPr lang="en-US" dirty="0"/>
              <a:t> de </a:t>
            </a:r>
            <a:r>
              <a:rPr lang="en-US" dirty="0" err="1"/>
              <a:t>mais</a:t>
            </a:r>
            <a:r>
              <a:rPr lang="en-US" dirty="0"/>
              <a:t> de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classe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única</a:t>
            </a:r>
            <a:r>
              <a:rPr lang="en-US" dirty="0"/>
              <a:t>,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exemplo</a:t>
            </a:r>
            <a:r>
              <a:rPr lang="en-US" dirty="0"/>
              <a:t>, </a:t>
            </a:r>
            <a:r>
              <a:rPr lang="en-US" dirty="0" err="1"/>
              <a:t>considere</a:t>
            </a:r>
            <a:r>
              <a:rPr lang="en-US" dirty="0"/>
              <a:t> D e O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única</a:t>
            </a:r>
            <a:r>
              <a:rPr lang="en-US" dirty="0"/>
              <a:t> </a:t>
            </a:r>
            <a:r>
              <a:rPr lang="en-US" dirty="0" err="1"/>
              <a:t>classe</a:t>
            </a:r>
            <a:r>
              <a:rPr lang="en-US" dirty="0"/>
              <a:t>, </a:t>
            </a:r>
            <a:r>
              <a:rPr lang="en-US" dirty="0" err="1"/>
              <a:t>ou</a:t>
            </a:r>
            <a:r>
              <a:rPr lang="en-US" dirty="0"/>
              <a:t> I e J …. </a:t>
            </a:r>
            <a:r>
              <a:rPr lang="en-US" dirty="0" err="1"/>
              <a:t>etc</a:t>
            </a:r>
            <a:r>
              <a:rPr lang="en-US" dirty="0"/>
              <a:t>; </a:t>
            </a:r>
            <a:r>
              <a:rPr lang="en-US" dirty="0" err="1"/>
              <a:t>ou</a:t>
            </a:r>
            <a:r>
              <a:rPr lang="en-US" dirty="0"/>
              <a:t> </a:t>
            </a:r>
            <a:r>
              <a:rPr lang="en-US" dirty="0" err="1"/>
              <a:t>ainda</a:t>
            </a:r>
            <a:r>
              <a:rPr lang="en-US" dirty="0"/>
              <a:t>, </a:t>
            </a:r>
            <a:r>
              <a:rPr lang="en-US" dirty="0" err="1"/>
              <a:t>faça</a:t>
            </a:r>
            <a:r>
              <a:rPr lang="en-US" dirty="0"/>
              <a:t> a </a:t>
            </a:r>
            <a:r>
              <a:rPr lang="en-US" dirty="0" err="1"/>
              <a:t>amostragem</a:t>
            </a:r>
            <a:r>
              <a:rPr lang="en-US" dirty="0"/>
              <a:t> de dados para </a:t>
            </a:r>
            <a:r>
              <a:rPr lang="en-US" dirty="0" err="1"/>
              <a:t>cada</a:t>
            </a:r>
            <a:r>
              <a:rPr lang="en-US" dirty="0"/>
              <a:t> conjunto de forma </a:t>
            </a:r>
            <a:r>
              <a:rPr lang="en-US" dirty="0" err="1"/>
              <a:t>aleatória</a:t>
            </a:r>
            <a:r>
              <a:rPr lang="en-US" dirty="0"/>
              <a:t> </a:t>
            </a:r>
            <a:r>
              <a:rPr lang="en-US" dirty="0" err="1"/>
              <a:t>sem</a:t>
            </a:r>
            <a:r>
              <a:rPr lang="en-US" dirty="0"/>
              <a:t> </a:t>
            </a:r>
            <a:r>
              <a:rPr lang="en-US" dirty="0" err="1"/>
              <a:t>considerar</a:t>
            </a:r>
            <a:r>
              <a:rPr lang="en-US" dirty="0"/>
              <a:t> </a:t>
            </a:r>
            <a:r>
              <a:rPr lang="en-US" dirty="0" err="1"/>
              <a:t>estratificação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 err="1"/>
              <a:t>Lembre</a:t>
            </a:r>
            <a:r>
              <a:rPr lang="en-US" dirty="0"/>
              <a:t>-se </a:t>
            </a:r>
            <a:r>
              <a:rPr lang="en-US" dirty="0" err="1"/>
              <a:t>que</a:t>
            </a:r>
            <a:r>
              <a:rPr lang="en-US" dirty="0"/>
              <a:t> o </a:t>
            </a:r>
            <a:r>
              <a:rPr lang="en-US" dirty="0" err="1"/>
              <a:t>erro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está</a:t>
            </a:r>
            <a:r>
              <a:rPr lang="en-US" dirty="0"/>
              <a:t> </a:t>
            </a:r>
            <a:r>
              <a:rPr lang="en-US" dirty="0" err="1"/>
              <a:t>sendo</a:t>
            </a:r>
            <a:r>
              <a:rPr lang="en-US" dirty="0"/>
              <a:t> </a:t>
            </a:r>
            <a:r>
              <a:rPr lang="en-US" dirty="0" err="1"/>
              <a:t>minimizado</a:t>
            </a:r>
            <a:r>
              <a:rPr lang="en-US" dirty="0"/>
              <a:t> é o “</a:t>
            </a:r>
            <a:r>
              <a:rPr lang="en-US" dirty="0" err="1"/>
              <a:t>erro</a:t>
            </a:r>
            <a:r>
              <a:rPr lang="en-US" dirty="0"/>
              <a:t> </a:t>
            </a:r>
            <a:r>
              <a:rPr lang="en-US" dirty="0" err="1"/>
              <a:t>quadrático</a:t>
            </a:r>
            <a:r>
              <a:rPr lang="en-US" dirty="0"/>
              <a:t> </a:t>
            </a:r>
            <a:r>
              <a:rPr lang="en-US" dirty="0" err="1"/>
              <a:t>médio</a:t>
            </a:r>
            <a:r>
              <a:rPr lang="en-US" dirty="0"/>
              <a:t>”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saída</a:t>
            </a:r>
            <a:r>
              <a:rPr lang="en-US" dirty="0"/>
              <a:t> da rede neural.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79878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CE639-40C7-26F4-FAF6-2A9172776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707D1C-B652-BE9D-3125-CC1940C34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Matriz de confusão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BCBA98D-17AF-AD47-CF80-EB3BCF981D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870785"/>
            <a:ext cx="10058400" cy="43671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Mostre a plotagem de algumas matrizes de confusão, para isso, execute alguns treinamentos e testes, variando as condições às quais eles são submetidos (variação de parâmetros, treinamento completo sem parada antecipada, uso de parada antecipada, matrizes de confusão para os folds da validação cruzada).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Nesse quesito e nos anteriores, lembre-se de sempre discorrer sobre o que você está mostrando. A agregação de valor ao seu vídeo depende muito de como você narra a sua trajetória dentro do trabalho. 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Você pode usar mais slides, entre os tópicos que coloquei ou depois para questões adicionais, mas </a:t>
            </a:r>
            <a:r>
              <a:rPr lang="pt-BR" sz="2400" b="1" dirty="0"/>
              <a:t>NÃO</a:t>
            </a:r>
            <a:r>
              <a:rPr lang="pt-BR" dirty="0"/>
              <a:t> altere a ordem de apresentação dos tópicos.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36458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2C9137-7C24-34B8-1E6D-443FD012E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Implementações adicionais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976E97F-B289-87DD-0991-0DA6F2F192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Caso você tenha feito implementações ou testes adicionais, e ainda tem tempo de vídeo, você pode apresenta-las a partir deste slide (mas não pode passar do tempo de 20 minutos, então atente-se para ter atendido, com qualidade, todos os aspectos anteriores).</a:t>
            </a:r>
          </a:p>
          <a:p>
            <a:endParaRPr lang="pt-BR" dirty="0"/>
          </a:p>
          <a:p>
            <a:pPr marL="0" indent="0">
              <a:buNone/>
            </a:pPr>
            <a:r>
              <a:rPr lang="pt-BR" dirty="0"/>
              <a:t>Exemplo de adições: uso de estratégias de avaliação (</a:t>
            </a:r>
            <a:r>
              <a:rPr lang="pt-BR" dirty="0" err="1"/>
              <a:t>hold</a:t>
            </a:r>
            <a:r>
              <a:rPr lang="pt-BR" dirty="0"/>
              <a:t> out ou validação cruzada), uso de outro método de otimização (que não seja o solicitado – gradiente descendente), uso de outra função de perda (p. ex. entropia cruzada).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04609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99000"/>
                <a:satMod val="140000"/>
              </a:schemeClr>
            </a:gs>
            <a:gs pos="65000">
              <a:schemeClr val="bg2">
                <a:tint val="100000"/>
                <a:shade val="80000"/>
                <a:satMod val="130000"/>
              </a:schemeClr>
            </a:gs>
            <a:gs pos="100000">
              <a:schemeClr val="bg2">
                <a:tint val="100000"/>
                <a:shade val="48000"/>
                <a:satMod val="120000"/>
              </a:schemeClr>
            </a:gs>
          </a:gsLst>
          <a:lin ang="162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75AF58-6F2F-FE6D-73E6-FBD413FBF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2C0B2E1-0268-42EC-ABD3-94F81A05BC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2256B4-48EA-40FC-BBC0-AA1EE6E008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D44BCCA-102D-4A9D-B1E4-2450CAF0B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8C6E698C-8155-4B8B-BDC9-B7299772B5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EEF5601-A8BC-411D-AA64-3E79320BA1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458473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3209156-242F-4B26-8D07-CEB2B68A9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4734" y="0"/>
            <a:ext cx="760726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6FAF23DA-4DA0-2379-A0D4-4E80F2EEAA56}"/>
              </a:ext>
            </a:extLst>
          </p:cNvPr>
          <p:cNvSpPr txBox="1">
            <a:spLocks/>
          </p:cNvSpPr>
          <p:nvPr/>
        </p:nvSpPr>
        <p:spPr>
          <a:xfrm>
            <a:off x="4893170" y="1739107"/>
            <a:ext cx="6987234" cy="443905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cap="all" spc="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>
                <a:solidFill>
                  <a:srgbClr val="FFFFFF"/>
                </a:solidFill>
              </a:rPr>
              <a:t>No. USP – nome integrante 1 </a:t>
            </a:r>
            <a:r>
              <a:rPr lang="en-US" sz="2800" i="1">
                <a:solidFill>
                  <a:srgbClr val="FFFFFF"/>
                </a:solidFill>
              </a:rPr>
              <a:t>apresentador</a:t>
            </a:r>
          </a:p>
          <a:p>
            <a:r>
              <a:rPr lang="en-US" sz="2800">
                <a:solidFill>
                  <a:srgbClr val="FFFFFF"/>
                </a:solidFill>
              </a:rPr>
              <a:t>No. USP – nome integrante 2</a:t>
            </a:r>
          </a:p>
          <a:p>
            <a:r>
              <a:rPr lang="en-US" sz="2800">
                <a:solidFill>
                  <a:srgbClr val="FFFFFF"/>
                </a:solidFill>
              </a:rPr>
              <a:t>No. USP – nome integrante 3</a:t>
            </a:r>
          </a:p>
          <a:p>
            <a:r>
              <a:rPr lang="en-US" sz="2800">
                <a:solidFill>
                  <a:srgbClr val="FFFFFF"/>
                </a:solidFill>
              </a:rPr>
              <a:t>No. USP – nome integrante 4</a:t>
            </a:r>
          </a:p>
          <a:p>
            <a:r>
              <a:rPr lang="en-US" sz="2800">
                <a:solidFill>
                  <a:srgbClr val="FFFFFF"/>
                </a:solidFill>
              </a:rPr>
              <a:t>No. USP – nome integrante 5 </a:t>
            </a:r>
            <a:r>
              <a:rPr lang="en-US" sz="2800" i="1">
                <a:solidFill>
                  <a:srgbClr val="FFFFFF"/>
                </a:solidFill>
              </a:rPr>
              <a:t>apresentadorA</a:t>
            </a:r>
          </a:p>
          <a:p>
            <a:r>
              <a:rPr lang="en-US" sz="2800">
                <a:solidFill>
                  <a:srgbClr val="FFFFFF"/>
                </a:solidFill>
              </a:rPr>
              <a:t>No. USP – nome integrante 6</a:t>
            </a:r>
          </a:p>
          <a:p>
            <a:endParaRPr lang="en-US" sz="2800">
              <a:solidFill>
                <a:srgbClr val="FFFFFF"/>
              </a:solidFill>
            </a:endParaRPr>
          </a:p>
          <a:p>
            <a:endParaRPr lang="en-US" sz="2000" dirty="0">
              <a:solidFill>
                <a:srgbClr val="FFFFFF"/>
              </a:solidFill>
            </a:endParaRPr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30996BF9-7E96-9BA3-855E-0909607DB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841" y="736600"/>
            <a:ext cx="4230617" cy="49276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6800" dirty="0">
                <a:solidFill>
                  <a:srgbClr val="FFFFFF"/>
                </a:solidFill>
              </a:rPr>
              <a:t>MLP</a:t>
            </a:r>
            <a:br>
              <a:rPr lang="en-US" sz="6800" dirty="0">
                <a:solidFill>
                  <a:srgbClr val="FFFFFF"/>
                </a:solidFill>
              </a:rPr>
            </a:br>
            <a:br>
              <a:rPr lang="en-US" sz="6800" dirty="0">
                <a:solidFill>
                  <a:srgbClr val="FFFFFF"/>
                </a:solidFill>
              </a:rPr>
            </a:br>
            <a:br>
              <a:rPr lang="en-US" sz="6800" dirty="0">
                <a:solidFill>
                  <a:srgbClr val="FFFFFF"/>
                </a:solidFill>
              </a:rPr>
            </a:br>
            <a:r>
              <a:rPr lang="en-US" sz="4400" dirty="0" err="1">
                <a:solidFill>
                  <a:srgbClr val="FFFFFF"/>
                </a:solidFill>
              </a:rPr>
              <a:t>Implementações</a:t>
            </a:r>
            <a:endParaRPr lang="en-US" sz="6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31811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Retrospectiva">
  <a:themeElements>
    <a:clrScheme name="Retrospectiva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iva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iv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75</TotalTime>
  <Words>1036</Words>
  <Application>Microsoft Office PowerPoint</Application>
  <PresentationFormat>Widescreen</PresentationFormat>
  <Paragraphs>75</Paragraphs>
  <Slides>14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Retrospectiva</vt:lpstr>
      <vt:lpstr>MLP   Implementações</vt:lpstr>
      <vt:lpstr>Estruturas de dados e programação</vt:lpstr>
      <vt:lpstr>Feedforward e cálculo do erro da rede</vt:lpstr>
      <vt:lpstr>Backpropagation – cálculo do erro para retropropagação</vt:lpstr>
      <vt:lpstr>Backpropagation – contribuição do erro na camada escondida</vt:lpstr>
      <vt:lpstr>Atualização de pesos sinápticos</vt:lpstr>
      <vt:lpstr>Resposta de reconhecimento de caractere</vt:lpstr>
      <vt:lpstr>Determinação de parâmetros</vt:lpstr>
      <vt:lpstr>Dinâmica de treinamento e teste</vt:lpstr>
      <vt:lpstr>Treinamento e parada antecipada</vt:lpstr>
      <vt:lpstr>Parada antecipada</vt:lpstr>
      <vt:lpstr>Matriz de confusão</vt:lpstr>
      <vt:lpstr>Implementações adicionais</vt:lpstr>
      <vt:lpstr>MLP   Implementações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Sarajane Peres</dc:creator>
  <cp:lastModifiedBy>Sarajane Peres</cp:lastModifiedBy>
  <cp:revision>13</cp:revision>
  <dcterms:created xsi:type="dcterms:W3CDTF">2025-04-25T19:54:16Z</dcterms:created>
  <dcterms:modified xsi:type="dcterms:W3CDTF">2026-05-23T20:39:28Z</dcterms:modified>
</cp:coreProperties>
</file>